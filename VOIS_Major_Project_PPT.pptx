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47" r:id="rId8"/>
    <p:sldId id="329" r:id="rId9"/>
    <p:sldId id="302" r:id="rId10"/>
    <p:sldId id="339"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nuhya903/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466200"/>
            <a:ext cx="4478693" cy="378595"/>
          </a:xfrm>
        </p:spPr>
        <p:txBody>
          <a:bodyPr vert="horz" lIns="91440" tIns="45720" rIns="91440" bIns="45720" rtlCol="0" anchor="t">
            <a:normAutofit lnSpcReduction="10000"/>
          </a:bodyPr>
          <a:lstStyle/>
          <a:p>
            <a:pPr algn="r"/>
            <a:r>
              <a:rPr lang="en-US" b="0" dirty="0">
                <a:solidFill>
                  <a:schemeClr val="tx1"/>
                </a:solidFill>
              </a:rPr>
              <a:t>Student Name: Vemu Lakshmi Anuhya</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15974" y="2784966"/>
            <a:ext cx="11015300" cy="584250"/>
          </a:xfrm>
        </p:spPr>
        <p:txBody>
          <a:bodyPr>
            <a:normAutofit/>
          </a:bodyPr>
          <a:lstStyle/>
          <a:p>
            <a:r>
              <a:rPr lang="en-GB" sz="3200" dirty="0"/>
              <a:t>Project Title: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15974" y="4405919"/>
            <a:ext cx="4986194" cy="369332"/>
          </a:xfrm>
          <a:prstGeom prst="rect">
            <a:avLst/>
          </a:prstGeom>
          <a:noFill/>
        </p:spPr>
        <p:txBody>
          <a:bodyPr wrap="square" rtlCol="0">
            <a:spAutoFit/>
          </a:bodyPr>
          <a:lstStyle/>
          <a:p>
            <a:r>
              <a:rPr lang="en-US" b="1" dirty="0"/>
              <a:t>AICTE STU ID: </a:t>
            </a:r>
            <a:r>
              <a:rPr lang="en-IN" dirty="0"/>
              <a:t>STU668937e35f11c1720268771 </a:t>
            </a:r>
            <a:endParaRPr lang="en-US" b="1" dirty="0"/>
          </a:p>
        </p:txBody>
      </p:sp>
      <p:sp>
        <p:nvSpPr>
          <p:cNvPr id="7" name="TextBox 6">
            <a:extLst>
              <a:ext uri="{FF2B5EF4-FFF2-40B4-BE49-F238E27FC236}">
                <a16:creationId xmlns:a16="http://schemas.microsoft.com/office/drawing/2014/main" id="{B6E91CE1-4D98-F6F3-4D31-8497B568F8B7}"/>
              </a:ext>
            </a:extLst>
          </p:cNvPr>
          <p:cNvSpPr txBox="1"/>
          <p:nvPr/>
        </p:nvSpPr>
        <p:spPr>
          <a:xfrm>
            <a:off x="715974" y="3930340"/>
            <a:ext cx="7679094" cy="369332"/>
          </a:xfrm>
          <a:prstGeom prst="rect">
            <a:avLst/>
          </a:prstGeom>
          <a:noFill/>
        </p:spPr>
        <p:txBody>
          <a:bodyPr wrap="square" rtlCol="0">
            <a:spAutoFit/>
          </a:bodyPr>
          <a:lstStyle/>
          <a:p>
            <a:r>
              <a:rPr lang="en-US" dirty="0"/>
              <a:t>College Name: Krishna University College of Engineering and Technology</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41207" y="1996854"/>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7244874-4D56-4E5A-8C0B-7686182F9257}"/>
              </a:ext>
            </a:extLst>
          </p:cNvPr>
          <p:cNvSpPr txBox="1"/>
          <p:nvPr/>
        </p:nvSpPr>
        <p:spPr>
          <a:xfrm>
            <a:off x="675957" y="1636210"/>
            <a:ext cx="5871800" cy="4708981"/>
          </a:xfrm>
          <a:prstGeom prst="rect">
            <a:avLst/>
          </a:prstGeom>
          <a:noFill/>
        </p:spPr>
        <p:txBody>
          <a:bodyPr wrap="square" rtlCol="0">
            <a:spAutoFit/>
          </a:bodyPr>
          <a:lstStyle/>
          <a:p>
            <a:r>
              <a:rPr lang="en-US" sz="2000" dirty="0"/>
              <a:t>The project analyzes agricultural performance across Kharif, Rabi and Zaid seasons using a dataset containing 4000 records and 28 variables.</a:t>
            </a:r>
          </a:p>
          <a:p>
            <a:endParaRPr lang="en-US" sz="2000" dirty="0"/>
          </a:p>
          <a:p>
            <a:r>
              <a:rPr lang="en-IN" sz="2000" dirty="0"/>
              <a:t>The analysis covers:</a:t>
            </a:r>
          </a:p>
          <a:p>
            <a:endParaRPr lang="en-IN" sz="2000" dirty="0"/>
          </a:p>
          <a:p>
            <a:pPr marL="285750" lvl="0" indent="-285750">
              <a:buFont typeface="Arial" panose="020B0604020202020204" pitchFamily="34" charset="0"/>
              <a:buChar char="•"/>
            </a:pPr>
            <a:r>
              <a:rPr lang="en-IN" sz="2000" dirty="0"/>
              <a:t>Yield and production performance </a:t>
            </a:r>
          </a:p>
          <a:p>
            <a:pPr marL="285750" lvl="0" indent="-285750">
              <a:buFont typeface="Arial" panose="020B0604020202020204" pitchFamily="34" charset="0"/>
              <a:buChar char="•"/>
            </a:pPr>
            <a:r>
              <a:rPr lang="en-IN" sz="2000" dirty="0"/>
              <a:t>Revenue, cost and profitability </a:t>
            </a:r>
          </a:p>
          <a:p>
            <a:pPr marL="285750" lvl="0" indent="-285750">
              <a:buFont typeface="Arial" panose="020B0604020202020204" pitchFamily="34" charset="0"/>
              <a:buChar char="•"/>
            </a:pPr>
            <a:r>
              <a:rPr lang="en-IN" sz="2000" dirty="0"/>
              <a:t>Water usage and water efficiency </a:t>
            </a:r>
          </a:p>
          <a:p>
            <a:pPr marL="285750" lvl="0" indent="-285750">
              <a:buFont typeface="Arial" panose="020B0604020202020204" pitchFamily="34" charset="0"/>
              <a:buChar char="•"/>
            </a:pPr>
            <a:r>
              <a:rPr lang="en-IN" sz="2000" dirty="0"/>
              <a:t>Rainfall, temperature and soil moisture</a:t>
            </a:r>
          </a:p>
          <a:p>
            <a:pPr marL="285750" lvl="0" indent="-285750">
              <a:buFont typeface="Arial" panose="020B0604020202020204" pitchFamily="34" charset="0"/>
              <a:buChar char="•"/>
            </a:pPr>
            <a:r>
              <a:rPr lang="en-IN" sz="2000" dirty="0"/>
              <a:t>Irrigation methods </a:t>
            </a:r>
          </a:p>
          <a:p>
            <a:pPr marL="285750" lvl="0" indent="-285750">
              <a:buFont typeface="Arial" panose="020B0604020202020204" pitchFamily="34" charset="0"/>
              <a:buChar char="•"/>
            </a:pPr>
            <a:r>
              <a:rPr lang="en-IN" sz="2000" dirty="0"/>
              <a:t>Crop-season performance </a:t>
            </a:r>
          </a:p>
          <a:p>
            <a:pPr marL="285750" lvl="0" indent="-285750">
              <a:buFont typeface="Arial" panose="020B0604020202020204" pitchFamily="34" charset="0"/>
              <a:buChar char="•"/>
            </a:pPr>
            <a:r>
              <a:rPr lang="en-IN" sz="2000" dirty="0"/>
              <a:t>State-season profitability </a:t>
            </a:r>
          </a:p>
          <a:p>
            <a:pPr marL="285750" lvl="0" indent="-285750">
              <a:buFont typeface="Arial" panose="020B0604020202020204" pitchFamily="34" charset="0"/>
              <a:buChar char="•"/>
            </a:pPr>
            <a:r>
              <a:rPr lang="en-IN" sz="2000" dirty="0"/>
              <a:t>Disease and pest risk </a:t>
            </a:r>
          </a:p>
          <a:p>
            <a:pPr marL="285750" lvl="0" indent="-285750">
              <a:buFont typeface="Arial" panose="020B0604020202020204" pitchFamily="34" charset="0"/>
              <a:buChar char="•"/>
            </a:pPr>
            <a:r>
              <a:rPr lang="en-IN" sz="2000" dirty="0"/>
              <a:t>Relationships between agricultural variables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3F2591E-4096-EBF4-A01E-082BBC2F2B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D04C7C-0DAB-27BF-47DB-2370EF3A6B7C}"/>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F82C1C19-C184-8C36-C0A3-D02F83C00992}"/>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06140429-EB9F-F231-432F-CFCC7DD4E0AC}"/>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2E3BB366-2536-1A43-B83F-44B6A8B12979}"/>
              </a:ext>
            </a:extLst>
          </p:cNvPr>
          <p:cNvSpPr txBox="1"/>
          <p:nvPr/>
        </p:nvSpPr>
        <p:spPr>
          <a:xfrm>
            <a:off x="675957" y="1636210"/>
            <a:ext cx="5871800" cy="3170099"/>
          </a:xfrm>
          <a:prstGeom prst="rect">
            <a:avLst/>
          </a:prstGeom>
          <a:noFill/>
        </p:spPr>
        <p:txBody>
          <a:bodyPr wrap="square" rtlCol="0">
            <a:spAutoFit/>
          </a:bodyPr>
          <a:lstStyle/>
          <a:p>
            <a:r>
              <a:rPr lang="en-IN" sz="2000" dirty="0"/>
              <a:t>Data cleaning was performed by handling missing values using season-wise median imputation and checking for duplicate records. Exploratory analysis was then performed using statistical summaries, visualizations, correlation analysis and group-based comparisons.</a:t>
            </a:r>
          </a:p>
          <a:p>
            <a:endParaRPr lang="en-IN" sz="2000" dirty="0"/>
          </a:p>
          <a:p>
            <a:r>
              <a:rPr lang="en-IN" sz="2000" dirty="0"/>
              <a:t>The project aims to identify seasonal patterns and provide data-driven recommendations for agricultural planning.</a:t>
            </a:r>
          </a:p>
        </p:txBody>
      </p:sp>
    </p:spTree>
    <p:extLst>
      <p:ext uri="{BB962C8B-B14F-4D97-AF65-F5344CB8AC3E}">
        <p14:creationId xmlns:p14="http://schemas.microsoft.com/office/powerpoint/2010/main" val="13545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10000"/>
          </a:bodyPr>
          <a:lstStyle/>
          <a:p>
            <a:pPr lvl="0"/>
            <a:r>
              <a:rPr lang="en-IN" sz="2400" b="1" dirty="0"/>
              <a:t>Farmers</a:t>
            </a:r>
            <a:r>
              <a:rPr lang="en-IN" sz="2400" dirty="0"/>
              <a:t> – to understand seasonal crop and irrigation performance. </a:t>
            </a:r>
          </a:p>
          <a:p>
            <a:pPr lvl="0"/>
            <a:r>
              <a:rPr lang="en-IN" sz="2400" b="1" dirty="0"/>
              <a:t>Agricultural Planners</a:t>
            </a:r>
            <a:r>
              <a:rPr lang="en-IN" sz="2400" dirty="0"/>
              <a:t> – to support seasonal crop and resource planning. </a:t>
            </a:r>
          </a:p>
          <a:p>
            <a:pPr lvl="0"/>
            <a:r>
              <a:rPr lang="en-IN" sz="2400" b="1" dirty="0"/>
              <a:t>Agricultural Officers</a:t>
            </a:r>
            <a:r>
              <a:rPr lang="en-IN" sz="2400" dirty="0"/>
              <a:t> – to understand regional and seasonal agricultural patterns. </a:t>
            </a:r>
          </a:p>
          <a:p>
            <a:pPr lvl="0"/>
            <a:r>
              <a:rPr lang="en-IN" sz="2400" b="1" dirty="0"/>
              <a:t>Agricultural Analysts/Researchers</a:t>
            </a:r>
            <a:r>
              <a:rPr lang="en-IN" sz="2400" dirty="0"/>
              <a:t> – to </a:t>
            </a:r>
            <a:r>
              <a:rPr lang="en-IN" sz="2400" dirty="0" err="1"/>
              <a:t>analyze</a:t>
            </a:r>
            <a:r>
              <a:rPr lang="en-IN" sz="2400" dirty="0"/>
              <a:t> yield, profitability, resource usage and environmental relationships. </a:t>
            </a:r>
          </a:p>
          <a:p>
            <a:pPr lvl="0"/>
            <a:r>
              <a:rPr lang="en-IN" sz="2400" b="1" dirty="0"/>
              <a:t>Agribusiness Decision-Makers</a:t>
            </a:r>
            <a:r>
              <a:rPr lang="en-IN" sz="2400" dirty="0"/>
              <a:t> – to evaluate crop-season and irrigation performance.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39500" y="1463105"/>
            <a:ext cx="4722557" cy="5243448"/>
          </a:xfrm>
        </p:spPr>
        <p:txBody>
          <a:bodyPr>
            <a:normAutofit fontScale="92500" lnSpcReduction="20000"/>
          </a:bodyPr>
          <a:lstStyle/>
          <a:p>
            <a:pPr marL="0" indent="0">
              <a:buNone/>
            </a:pPr>
            <a:r>
              <a:rPr lang="en-IN" b="1" dirty="0"/>
              <a:t>Programming Language</a:t>
            </a:r>
            <a:endParaRPr lang="en-IN" dirty="0"/>
          </a:p>
          <a:p>
            <a:pPr lvl="0"/>
            <a:r>
              <a:rPr lang="en-IN" dirty="0"/>
              <a:t>Python </a:t>
            </a:r>
          </a:p>
          <a:p>
            <a:pPr marL="0" indent="0">
              <a:buNone/>
            </a:pPr>
            <a:r>
              <a:rPr lang="en-IN" b="1" dirty="0"/>
              <a:t>Data Analysis</a:t>
            </a:r>
            <a:endParaRPr lang="en-IN" dirty="0"/>
          </a:p>
          <a:p>
            <a:pPr lvl="0"/>
            <a:r>
              <a:rPr lang="en-IN" dirty="0"/>
              <a:t>Pandas </a:t>
            </a:r>
          </a:p>
          <a:p>
            <a:pPr lvl="0"/>
            <a:r>
              <a:rPr lang="en-IN" dirty="0"/>
              <a:t>NumPy </a:t>
            </a:r>
          </a:p>
          <a:p>
            <a:pPr marL="0" indent="0">
              <a:buNone/>
            </a:pPr>
            <a:r>
              <a:rPr lang="en-IN" b="1" dirty="0"/>
              <a:t>Data Visualization</a:t>
            </a:r>
            <a:endParaRPr lang="en-IN" dirty="0"/>
          </a:p>
          <a:p>
            <a:pPr lvl="0"/>
            <a:r>
              <a:rPr lang="en-IN" dirty="0"/>
              <a:t>Matplotlib </a:t>
            </a:r>
          </a:p>
          <a:p>
            <a:pPr lvl="0"/>
            <a:r>
              <a:rPr lang="en-IN" dirty="0"/>
              <a:t>Seaborn </a:t>
            </a:r>
          </a:p>
          <a:p>
            <a:pPr marL="0" indent="0">
              <a:buNone/>
            </a:pPr>
            <a:r>
              <a:rPr lang="en-IN" b="1" dirty="0"/>
              <a:t>Environment</a:t>
            </a:r>
            <a:endParaRPr lang="en-IN" dirty="0"/>
          </a:p>
          <a:p>
            <a:pPr lvl="0"/>
            <a:r>
              <a:rPr lang="en-IN" dirty="0"/>
              <a:t>Google </a:t>
            </a:r>
            <a:r>
              <a:rPr lang="en-IN" dirty="0" err="1"/>
              <a:t>Colab</a:t>
            </a: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A63CDB1-CD25-1469-226D-AAA8A6ECC803}"/>
              </a:ext>
            </a:extLst>
          </p:cNvPr>
          <p:cNvPicPr>
            <a:picLocks noChangeAspect="1"/>
          </p:cNvPicPr>
          <p:nvPr/>
        </p:nvPicPr>
        <p:blipFill>
          <a:blip r:embed="rId3"/>
          <a:stretch>
            <a:fillRect/>
          </a:stretch>
        </p:blipFill>
        <p:spPr>
          <a:xfrm>
            <a:off x="968463" y="1387337"/>
            <a:ext cx="7227625" cy="4117723"/>
          </a:xfrm>
          <a:prstGeom prst="rect">
            <a:avLst/>
          </a:prstGeom>
        </p:spPr>
      </p:pic>
      <p:sp>
        <p:nvSpPr>
          <p:cNvPr id="6" name="TextBox 5">
            <a:extLst>
              <a:ext uri="{FF2B5EF4-FFF2-40B4-BE49-F238E27FC236}">
                <a16:creationId xmlns:a16="http://schemas.microsoft.com/office/drawing/2014/main" id="{65701B03-DFD8-1489-D594-CD6541DCBAFA}"/>
              </a:ext>
            </a:extLst>
          </p:cNvPr>
          <p:cNvSpPr txBox="1"/>
          <p:nvPr/>
        </p:nvSpPr>
        <p:spPr>
          <a:xfrm>
            <a:off x="968463" y="5719665"/>
            <a:ext cx="7886288" cy="646331"/>
          </a:xfrm>
          <a:prstGeom prst="rect">
            <a:avLst/>
          </a:prstGeom>
          <a:noFill/>
        </p:spPr>
        <p:txBody>
          <a:bodyPr wrap="square" rtlCol="0">
            <a:spAutoFit/>
          </a:bodyPr>
          <a:lstStyle/>
          <a:p>
            <a:r>
              <a:rPr lang="en-IN" dirty="0"/>
              <a:t>Kharif recorded the highest average yield (5.63 tonnes/ha), while Zaid recorded the lowest (4.64 tonnes/ha).</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6" y="5873102"/>
            <a:ext cx="8682648" cy="477520"/>
          </a:xfrm>
        </p:spPr>
        <p:txBody>
          <a:bodyPr>
            <a:noAutofit/>
          </a:bodyPr>
          <a:lstStyle/>
          <a:p>
            <a:pPr marL="0" indent="0">
              <a:buNone/>
            </a:pPr>
            <a:r>
              <a:rPr lang="en-IN" sz="1800" dirty="0"/>
              <a:t>Sugarcane in Kharif was the strongest crop-season combination, with an average yield of 53.46 tonnes/ha and profit of about ₹10.01 lakh.</a:t>
            </a:r>
          </a:p>
        </p:txBody>
      </p:sp>
      <p:pic>
        <p:nvPicPr>
          <p:cNvPr id="3" name="Picture 2">
            <a:extLst>
              <a:ext uri="{FF2B5EF4-FFF2-40B4-BE49-F238E27FC236}">
                <a16:creationId xmlns:a16="http://schemas.microsoft.com/office/drawing/2014/main" id="{5A22A315-7713-519F-82B2-B4F92FD27D99}"/>
              </a:ext>
            </a:extLst>
          </p:cNvPr>
          <p:cNvPicPr>
            <a:picLocks noChangeAspect="1"/>
          </p:cNvPicPr>
          <p:nvPr/>
        </p:nvPicPr>
        <p:blipFill>
          <a:blip r:embed="rId3"/>
          <a:stretch>
            <a:fillRect/>
          </a:stretch>
        </p:blipFill>
        <p:spPr>
          <a:xfrm>
            <a:off x="1022844" y="1275371"/>
            <a:ext cx="7012219" cy="430725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5839564"/>
            <a:ext cx="8252861" cy="477520"/>
          </a:xfrm>
        </p:spPr>
        <p:txBody>
          <a:bodyPr>
            <a:noAutofit/>
          </a:bodyPr>
          <a:lstStyle/>
          <a:p>
            <a:pPr marL="0" indent="0">
              <a:buNone/>
            </a:pPr>
            <a:r>
              <a:rPr lang="en-IN" sz="1800" dirty="0"/>
              <a:t>Drip irrigation recorded the highest average yield (6.58 tonnes/ha) and profit (₹2.20 lakh), while Rainfed agriculture achieved the highest water efficiency.</a:t>
            </a:r>
          </a:p>
        </p:txBody>
      </p:sp>
      <p:pic>
        <p:nvPicPr>
          <p:cNvPr id="3" name="Picture 2">
            <a:extLst>
              <a:ext uri="{FF2B5EF4-FFF2-40B4-BE49-F238E27FC236}">
                <a16:creationId xmlns:a16="http://schemas.microsoft.com/office/drawing/2014/main" id="{025D6039-4858-DC53-1C42-41215CDFBB66}"/>
              </a:ext>
            </a:extLst>
          </p:cNvPr>
          <p:cNvPicPr>
            <a:picLocks noChangeAspect="1"/>
          </p:cNvPicPr>
          <p:nvPr/>
        </p:nvPicPr>
        <p:blipFill>
          <a:blip r:embed="rId3"/>
          <a:stretch>
            <a:fillRect/>
          </a:stretch>
        </p:blipFill>
        <p:spPr>
          <a:xfrm>
            <a:off x="881808" y="1201586"/>
            <a:ext cx="7130308" cy="438104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5912407"/>
            <a:ext cx="8714414" cy="477520"/>
          </a:xfrm>
        </p:spPr>
        <p:txBody>
          <a:bodyPr>
            <a:noAutofit/>
          </a:bodyPr>
          <a:lstStyle/>
          <a:p>
            <a:pPr marL="0" indent="0">
              <a:buNone/>
            </a:pPr>
            <a:r>
              <a:rPr lang="en-IN" sz="1800" dirty="0"/>
              <a:t>Seasonal performance varies by state: Gujarat performs best in Kharif, whereas Punjab records higher average profit in Rabi.</a:t>
            </a:r>
          </a:p>
        </p:txBody>
      </p:sp>
      <p:pic>
        <p:nvPicPr>
          <p:cNvPr id="3" name="Picture 2">
            <a:extLst>
              <a:ext uri="{FF2B5EF4-FFF2-40B4-BE49-F238E27FC236}">
                <a16:creationId xmlns:a16="http://schemas.microsoft.com/office/drawing/2014/main" id="{F5E1243E-9080-6DD7-6275-D0D630E3C69E}"/>
              </a:ext>
            </a:extLst>
          </p:cNvPr>
          <p:cNvPicPr>
            <a:picLocks noChangeAspect="1"/>
          </p:cNvPicPr>
          <p:nvPr/>
        </p:nvPicPr>
        <p:blipFill>
          <a:blip r:embed="rId3"/>
          <a:stretch>
            <a:fillRect/>
          </a:stretch>
        </p:blipFill>
        <p:spPr>
          <a:xfrm>
            <a:off x="865207" y="1177887"/>
            <a:ext cx="7383055" cy="440474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6009891"/>
            <a:ext cx="8356076" cy="477520"/>
          </a:xfrm>
        </p:spPr>
        <p:txBody>
          <a:bodyPr>
            <a:noAutofit/>
          </a:bodyPr>
          <a:lstStyle/>
          <a:p>
            <a:pPr marL="0" indent="0">
              <a:buNone/>
            </a:pPr>
            <a:r>
              <a:rPr lang="en-IN" sz="1800" dirty="0"/>
              <a:t>Rainfall (0.03), temperature (0.01) and soil moisture (0.01) show very weak linear relationships with yield in the dataset.</a:t>
            </a:r>
          </a:p>
        </p:txBody>
      </p:sp>
      <p:pic>
        <p:nvPicPr>
          <p:cNvPr id="3" name="Picture 2">
            <a:extLst>
              <a:ext uri="{FF2B5EF4-FFF2-40B4-BE49-F238E27FC236}">
                <a16:creationId xmlns:a16="http://schemas.microsoft.com/office/drawing/2014/main" id="{F10A12A2-C786-6756-96D8-0D0BD73FBD8F}"/>
              </a:ext>
            </a:extLst>
          </p:cNvPr>
          <p:cNvPicPr>
            <a:picLocks noChangeAspect="1"/>
          </p:cNvPicPr>
          <p:nvPr/>
        </p:nvPicPr>
        <p:blipFill>
          <a:blip r:embed="rId3"/>
          <a:stretch>
            <a:fillRect/>
          </a:stretch>
        </p:blipFill>
        <p:spPr>
          <a:xfrm>
            <a:off x="1007706" y="1275371"/>
            <a:ext cx="7371183" cy="444429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72F2235-D11A-F228-FDE1-E1E1DD98C274}"/>
              </a:ext>
            </a:extLst>
          </p:cNvPr>
          <p:cNvSpPr txBox="1"/>
          <p:nvPr/>
        </p:nvSpPr>
        <p:spPr>
          <a:xfrm>
            <a:off x="753400" y="1135412"/>
            <a:ext cx="7009669" cy="5355312"/>
          </a:xfrm>
          <a:prstGeom prst="rect">
            <a:avLst/>
          </a:prstGeom>
          <a:noFill/>
        </p:spPr>
        <p:txBody>
          <a:bodyPr wrap="square" rtlCol="0">
            <a:spAutoFit/>
          </a:bodyPr>
          <a:lstStyle/>
          <a:p>
            <a:pPr marL="285750" lvl="0" indent="-285750">
              <a:buFont typeface="Arial" panose="020B0604020202020204" pitchFamily="34" charset="0"/>
              <a:buChar char="•"/>
            </a:pPr>
            <a:r>
              <a:rPr lang="en-IN" dirty="0"/>
              <a:t>Incorporate historical weather data to study seasonal and yearly trends.</a:t>
            </a:r>
            <a:br>
              <a:rPr lang="en-IN" dirty="0"/>
            </a:br>
            <a:r>
              <a:rPr lang="en-IN" dirty="0"/>
              <a:t> </a:t>
            </a:r>
          </a:p>
          <a:p>
            <a:pPr marL="285750" lvl="0" indent="-285750">
              <a:buFont typeface="Arial" panose="020B0604020202020204" pitchFamily="34" charset="0"/>
              <a:buChar char="•"/>
            </a:pPr>
            <a:r>
              <a:rPr lang="en-IN" dirty="0"/>
              <a:t>Include market price fluctuations to better understand changes in profitability.</a:t>
            </a:r>
            <a:br>
              <a:rPr lang="en-IN" dirty="0"/>
            </a:br>
            <a:endParaRPr lang="en-IN" dirty="0"/>
          </a:p>
          <a:p>
            <a:pPr marL="285750" lvl="0" indent="-285750">
              <a:buFont typeface="Arial" panose="020B0604020202020204" pitchFamily="34" charset="0"/>
              <a:buChar char="•"/>
            </a:pPr>
            <a:r>
              <a:rPr lang="en-IN" dirty="0"/>
              <a:t>Add detailed farm-management practices for deeper analysis.</a:t>
            </a:r>
            <a:br>
              <a:rPr lang="en-IN" dirty="0"/>
            </a:br>
            <a:r>
              <a:rPr lang="en-IN" dirty="0"/>
              <a:t> </a:t>
            </a:r>
          </a:p>
          <a:p>
            <a:pPr marL="285750" lvl="0" indent="-285750">
              <a:buFont typeface="Arial" panose="020B0604020202020204" pitchFamily="34" charset="0"/>
              <a:buChar char="•"/>
            </a:pPr>
            <a:r>
              <a:rPr lang="en-IN" dirty="0"/>
              <a:t>Perform crop-specific and region-specific analysis to reduce the effect of crop composition.</a:t>
            </a:r>
            <a:br>
              <a:rPr lang="en-IN" dirty="0"/>
            </a:br>
            <a:endParaRPr lang="en-IN" dirty="0"/>
          </a:p>
          <a:p>
            <a:pPr marL="285750" lvl="0" indent="-285750">
              <a:buFont typeface="Arial" panose="020B0604020202020204" pitchFamily="34" charset="0"/>
              <a:buChar char="•"/>
            </a:pPr>
            <a:r>
              <a:rPr lang="en-IN" dirty="0"/>
              <a:t>Develop predictive models to forecast yield and profitability for future seasons.</a:t>
            </a:r>
            <a:br>
              <a:rPr lang="en-IN" dirty="0"/>
            </a:br>
            <a:r>
              <a:rPr lang="en-IN" dirty="0"/>
              <a:t> </a:t>
            </a:r>
          </a:p>
          <a:p>
            <a:pPr marL="285750" lvl="0" indent="-285750">
              <a:buFont typeface="Arial" panose="020B0604020202020204" pitchFamily="34" charset="0"/>
              <a:buChar char="•"/>
            </a:pPr>
            <a:r>
              <a:rPr lang="en-IN" dirty="0"/>
              <a:t>Build an interactive dashboard for easier exploration of seasonal agricultural performance.</a:t>
            </a:r>
          </a:p>
          <a:p>
            <a:pPr lvl="0"/>
            <a:r>
              <a:rPr lang="en-IN" dirty="0"/>
              <a:t> </a:t>
            </a:r>
          </a:p>
          <a:p>
            <a:pPr marL="285750" lvl="0" indent="-285750">
              <a:buFont typeface="Arial" panose="020B0604020202020204" pitchFamily="34" charset="0"/>
              <a:buChar char="•"/>
            </a:pPr>
            <a:r>
              <a:rPr lang="en-IN" dirty="0" err="1"/>
              <a:t>Analyze</a:t>
            </a:r>
            <a:r>
              <a:rPr lang="en-IN" dirty="0"/>
              <a:t> irrigation and resource usage further to support water-efficient agricultural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144291"/>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63042" y="1075316"/>
            <a:ext cx="9491300" cy="400110"/>
          </a:xfrm>
          <a:prstGeom prst="rect">
            <a:avLst/>
          </a:prstGeom>
          <a:noFill/>
        </p:spPr>
        <p:txBody>
          <a:bodyPr wrap="square">
            <a:spAutoFit/>
          </a:bodyPr>
          <a:lstStyle/>
          <a:p>
            <a:r>
              <a:rPr lang="en-US" sz="2000" dirty="0">
                <a:hlinkClick r:id="rId3"/>
              </a:rPr>
              <a:t>https://github.com/Anuhya903/Seasonal-Agriculture-Performance-Analysis</a:t>
            </a:r>
            <a:endParaRPr lang="en-US"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488741" y="224194"/>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745A28C-6ADA-E88D-EC99-BA802B996CF9}"/>
              </a:ext>
            </a:extLst>
          </p:cNvPr>
          <p:cNvPicPr>
            <a:picLocks noChangeAspect="1"/>
          </p:cNvPicPr>
          <p:nvPr/>
        </p:nvPicPr>
        <p:blipFill>
          <a:blip r:embed="rId3"/>
          <a:stretch>
            <a:fillRect/>
          </a:stretch>
        </p:blipFill>
        <p:spPr>
          <a:xfrm>
            <a:off x="1184987" y="1608410"/>
            <a:ext cx="6958896" cy="463378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6767" y="54506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1448</TotalTime>
  <Words>563</Words>
  <Application>Microsoft Office PowerPoint</Application>
  <PresentationFormat>Widescreen</PresentationFormat>
  <Paragraphs>67</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Anuhya Vemu</cp:lastModifiedBy>
  <cp:revision>102</cp:revision>
  <dcterms:created xsi:type="dcterms:W3CDTF">2021-07-11T13:13:15Z</dcterms:created>
  <dcterms:modified xsi:type="dcterms:W3CDTF">2026-09-10T09:48:19Z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